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5695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5029200" cy="5029200"/>
          </a:xfrm>
          <a:prstGeom prst="ellipse">
            <a:avLst/>
          </a:prstGeom>
          <a:solidFill>
            <a:srgbClr val="132C46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132C46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1188720" cy="1188720"/>
          </a:xfrm>
          <a:prstGeom prst="ellipse">
            <a:avLst/>
          </a:prstGeom>
          <a:solidFill>
            <a:srgbClr val="0E8A96"/>
          </a:solidFill>
          <a:ln/>
        </p:spPr>
      </p:sp>
      <p:pic>
        <p:nvPicPr>
          <p:cNvPr id="5" name="Image 0" descr="/home/claude/pw_ppt/icon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1057046"/>
            <a:ext cx="903427" cy="9034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7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SECURITY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Development of an Intelligent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Security Analyzer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4389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Preventing Password Cracking Attacks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22960" y="5074920"/>
            <a:ext cx="2011680" cy="0"/>
          </a:xfrm>
          <a:prstGeom prst="line">
            <a:avLst/>
          </a:prstGeom>
          <a:noFill/>
          <a:ln w="25400">
            <a:solidFill>
              <a:srgbClr val="17B6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62267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Done By: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SIVA KUMAR (192521057)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YADESH T (192511306)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VIJAY MOHAN(192565102)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PRAKASH.K(192521081)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S v Abhishek(192311053)</a:t>
            </a:r>
          </a:p>
          <a:p>
            <a:pPr marL="0" indent="0">
              <a:buNone/>
            </a:pP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1E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451592" y="201168"/>
            <a:ext cx="822960" cy="822960"/>
          </a:xfrm>
          <a:prstGeom prst="ellipse">
            <a:avLst/>
          </a:prstGeom>
          <a:solidFill>
            <a:srgbClr val="0E8A96"/>
          </a:solidFill>
          <a:ln/>
        </p:spPr>
      </p:sp>
      <p:pic>
        <p:nvPicPr>
          <p:cNvPr id="5" name="Image 0" descr="/home/claude/pw_ppt/icon_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0347" y="299923"/>
            <a:ext cx="625450" cy="6254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916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16252"/>
            <a:ext cx="402336" cy="402336"/>
          </a:xfrm>
          <a:prstGeom prst="ellipse">
            <a:avLst/>
          </a:prstGeom>
          <a:solidFill>
            <a:srgbClr val="17B6C4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0162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08760" y="180136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Authentication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343400" y="1801368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are the primary method of user authentication for most online services.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29718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3296412"/>
            <a:ext cx="402336" cy="402336"/>
          </a:xfrm>
          <a:prstGeom prst="ellipse">
            <a:avLst/>
          </a:prstGeom>
          <a:solidFill>
            <a:srgbClr val="17B6C4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32964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508760" y="308152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by Design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343400" y="3081528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passwords are vulnerable to brute-force, dictionary, and pattern-based attacks.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42519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68680" y="4576572"/>
            <a:ext cx="402336" cy="402336"/>
          </a:xfrm>
          <a:prstGeom prst="ellipse">
            <a:avLst/>
          </a:prstGeom>
          <a:solidFill>
            <a:srgbClr val="17B6C4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45765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508760" y="436168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Breaches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343400" y="4361688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Password-related breaches can lead to unauthorized access and data theft.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55321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68680" y="5856732"/>
            <a:ext cx="402336" cy="402336"/>
          </a:xfrm>
          <a:prstGeom prst="ellipse">
            <a:avLst/>
          </a:prstGeom>
          <a:solidFill>
            <a:srgbClr val="17B6C4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58567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508760" y="564184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Creation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343400" y="5641848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password strength analyzer helps users create secure passwords.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E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aims to improve password security through intelligent analysis.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88720"/>
            <a:ext cx="1463040" cy="0"/>
          </a:xfrm>
          <a:prstGeom prst="line">
            <a:avLst/>
          </a:prstGeom>
          <a:noFill/>
          <a:ln w="38100">
            <a:solidFill>
              <a:srgbClr val="E457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737360"/>
            <a:ext cx="5760720" cy="777240"/>
          </a:xfrm>
          <a:prstGeom prst="roundRect">
            <a:avLst>
              <a:gd name="adj" fmla="val 9412"/>
            </a:avLst>
          </a:prstGeom>
          <a:solidFill>
            <a:srgbClr val="132C46"/>
          </a:solidFill>
          <a:ln/>
        </p:spPr>
      </p:sp>
      <p:pic>
        <p:nvPicPr>
          <p:cNvPr id="5" name="Image 0" descr="/home/claude/pw_ppt/icon_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202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792224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users create weak or predictable passwords.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697480"/>
            <a:ext cx="5760720" cy="777240"/>
          </a:xfrm>
          <a:prstGeom prst="roundRect">
            <a:avLst>
              <a:gd name="adj" fmla="val 9412"/>
            </a:avLst>
          </a:prstGeom>
          <a:solidFill>
            <a:srgbClr val="132C46"/>
          </a:solidFill>
          <a:ln/>
        </p:spPr>
      </p:sp>
      <p:pic>
        <p:nvPicPr>
          <p:cNvPr id="8" name="Image 1" descr="/home/claude/pw_ppt/icon_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8803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752344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passwords increase the risk of cyberattacks and account compromise.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" y="3657600"/>
            <a:ext cx="5760720" cy="777240"/>
          </a:xfrm>
          <a:prstGeom prst="roundRect">
            <a:avLst>
              <a:gd name="adj" fmla="val 9412"/>
            </a:avLst>
          </a:prstGeom>
          <a:solidFill>
            <a:srgbClr val="132C46"/>
          </a:solidFill>
          <a:ln/>
        </p:spPr>
      </p:sp>
      <p:pic>
        <p:nvPicPr>
          <p:cNvPr id="11" name="Image 2" descr="/home/claude/pw_ppt/icon_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84048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3040" y="3712464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password checkers often provide only basic feedback.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858000" y="1737360"/>
            <a:ext cx="4709160" cy="3977640"/>
          </a:xfrm>
          <a:prstGeom prst="roundRect">
            <a:avLst>
              <a:gd name="adj" fmla="val 2299"/>
            </a:avLst>
          </a:prstGeom>
          <a:solidFill>
            <a:srgbClr val="132C46"/>
          </a:solidFill>
          <a:ln w="12700">
            <a:solidFill>
              <a:srgbClr val="0E8A96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7178040" y="2011680"/>
            <a:ext cx="731520" cy="73152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5" name="Image 3" descr="/home/claude/pw_ppt/icon_b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5822" y="2099462"/>
            <a:ext cx="555955" cy="55595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092440" y="2103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7178040" y="2971800"/>
            <a:ext cx="41605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400"/>
              </a:spcAft>
              <a:buSzPct val="100000"/>
              <a:buChar char="✦"/>
            </a:pPr>
            <a:r>
              <a:rPr lang="en-US" sz="13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need detailed security analysis and improvement suggestions.</a:t>
            </a:r>
            <a:endParaRPr lang="en-US" sz="1350" dirty="0"/>
          </a:p>
          <a:p>
            <a:pPr marL="342900" indent="-342900">
              <a:lnSpc>
                <a:spcPts val="2000"/>
              </a:lnSpc>
              <a:buSzPct val="100000"/>
              <a:buChar char="✦"/>
            </a:pPr>
            <a:r>
              <a:rPr lang="en-US" sz="13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analyzer can reduce password-related security risks.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1463040" cy="0"/>
          </a:xfrm>
          <a:prstGeom prst="line">
            <a:avLst/>
          </a:prstGeom>
          <a:noFill/>
          <a:ln w="38100">
            <a:solidFill>
              <a:srgbClr val="17B6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0020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56232"/>
            <a:ext cx="685800" cy="685800"/>
          </a:xfrm>
          <a:prstGeom prst="ellipse">
            <a:avLst/>
          </a:prstGeom>
          <a:solidFill>
            <a:srgbClr val="0E8A96"/>
          </a:solidFill>
          <a:ln/>
        </p:spPr>
      </p:sp>
      <p:pic>
        <p:nvPicPr>
          <p:cNvPr id="6" name="Image 0" descr="/home/claude/pw_ppt/icon_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938528"/>
            <a:ext cx="521208" cy="521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651760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the Analyzer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3017520"/>
            <a:ext cx="2916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intelligent password security analyzer.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60020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81144" y="1856232"/>
            <a:ext cx="685800" cy="685800"/>
          </a:xfrm>
          <a:prstGeom prst="ellipse">
            <a:avLst/>
          </a:prstGeom>
          <a:solidFill>
            <a:srgbClr val="0E8A96"/>
          </a:solidFill>
          <a:ln/>
        </p:spPr>
      </p:sp>
      <p:pic>
        <p:nvPicPr>
          <p:cNvPr id="11" name="Image 1" descr="/home/claude/pw_ppt/icon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938528"/>
            <a:ext cx="521208" cy="521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1144" y="2651760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Strength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81144" y="3017520"/>
            <a:ext cx="2916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password strength using multiple security parameters.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10144" y="160020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66176" y="1856232"/>
            <a:ext cx="685800" cy="685800"/>
          </a:xfrm>
          <a:prstGeom prst="ellipse">
            <a:avLst/>
          </a:prstGeom>
          <a:solidFill>
            <a:srgbClr val="0E8A96"/>
          </a:solidFill>
          <a:ln/>
        </p:spPr>
      </p:sp>
      <p:pic>
        <p:nvPicPr>
          <p:cNvPr id="16" name="Image 2" descr="/home/claude/pw_ppt/icon_b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1938528"/>
            <a:ext cx="521208" cy="5212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66176" y="2651760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Vulnerabilities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66176" y="3017520"/>
            <a:ext cx="2916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vulnerabilities to common password cracking techniques.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2482596" y="402336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738628" y="4279392"/>
            <a:ext cx="685800" cy="685800"/>
          </a:xfrm>
          <a:prstGeom prst="ellipse">
            <a:avLst/>
          </a:prstGeom>
          <a:solidFill>
            <a:srgbClr val="0E8A96"/>
          </a:solidFill>
          <a:ln/>
        </p:spPr>
      </p:sp>
      <p:pic>
        <p:nvPicPr>
          <p:cNvPr id="21" name="Image 3" descr="/home/claude/pw_ppt/icon_histo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0924" y="4361688"/>
            <a:ext cx="521208" cy="5212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738628" y="5074920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Crack Time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2738628" y="5440680"/>
            <a:ext cx="2916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password crack time and security level.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167628" y="402336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23660" y="4279392"/>
            <a:ext cx="685800" cy="685800"/>
          </a:xfrm>
          <a:prstGeom prst="ellipse">
            <a:avLst/>
          </a:prstGeom>
          <a:solidFill>
            <a:srgbClr val="0E8A96"/>
          </a:solidFill>
          <a:ln/>
        </p:spPr>
      </p:sp>
      <p:pic>
        <p:nvPicPr>
          <p:cNvPr id="26" name="Image 4" descr="/home/claude/pw_ppt/icon_fi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4361688"/>
            <a:ext cx="521208" cy="5212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23660" y="5074920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Improvements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6423660" y="5440680"/>
            <a:ext cx="2916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personalized recommendations for stronger passwords.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88720"/>
            <a:ext cx="1463040" cy="0"/>
          </a:xfrm>
          <a:prstGeom prst="line">
            <a:avLst/>
          </a:prstGeom>
          <a:noFill/>
          <a:ln w="38100">
            <a:solidFill>
              <a:srgbClr val="17B6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" y="196596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132C46"/>
          </a:solidFill>
          <a:ln/>
        </p:spPr>
      </p:sp>
      <p:sp>
        <p:nvSpPr>
          <p:cNvPr id="5" name="Shape 3"/>
          <p:cNvSpPr/>
          <p:nvPr/>
        </p:nvSpPr>
        <p:spPr>
          <a:xfrm>
            <a:off x="1284732" y="2240280"/>
            <a:ext cx="731520" cy="731520"/>
          </a:xfrm>
          <a:prstGeom prst="ellipse">
            <a:avLst/>
          </a:prstGeom>
          <a:solidFill>
            <a:srgbClr val="0E8A96"/>
          </a:solidFill>
          <a:ln/>
        </p:spPr>
      </p:sp>
      <p:pic>
        <p:nvPicPr>
          <p:cNvPr id="6" name="Image 0" descr="/home/claude/pw_ppt/icon_user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327148"/>
            <a:ext cx="557784" cy="5577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31546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Input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" y="365760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password input from users securely.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15184" y="283464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889504" y="196596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132C46"/>
          </a:solidFill>
          <a:ln/>
        </p:spPr>
      </p:sp>
      <p:sp>
        <p:nvSpPr>
          <p:cNvPr id="11" name="Shape 8"/>
          <p:cNvSpPr/>
          <p:nvPr/>
        </p:nvSpPr>
        <p:spPr>
          <a:xfrm>
            <a:off x="3506724" y="2240280"/>
            <a:ext cx="731520" cy="731520"/>
          </a:xfrm>
          <a:prstGeom prst="ellipse">
            <a:avLst/>
          </a:prstGeom>
          <a:solidFill>
            <a:srgbClr val="0E8A96"/>
          </a:solidFill>
          <a:ln/>
        </p:spPr>
      </p:sp>
      <p:pic>
        <p:nvPicPr>
          <p:cNvPr id="12" name="Image 1" descr="/home/claude/pw_ppt/icon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592" y="2327148"/>
            <a:ext cx="557784" cy="5577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80944" y="31546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Analysis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026664" y="365760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password complexity and entropy.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837176" y="283464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5111496" y="196596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132C46"/>
          </a:solidFill>
          <a:ln/>
        </p:spPr>
      </p:sp>
      <p:sp>
        <p:nvSpPr>
          <p:cNvPr id="17" name="Shape 13"/>
          <p:cNvSpPr/>
          <p:nvPr/>
        </p:nvSpPr>
        <p:spPr>
          <a:xfrm>
            <a:off x="5728716" y="2240280"/>
            <a:ext cx="731520" cy="731520"/>
          </a:xfrm>
          <a:prstGeom prst="ellipse">
            <a:avLst/>
          </a:prstGeom>
          <a:solidFill>
            <a:srgbClr val="0E8A96"/>
          </a:solidFill>
          <a:ln/>
        </p:spPr>
      </p:sp>
      <p:pic>
        <p:nvPicPr>
          <p:cNvPr id="18" name="Image 2" descr="/home/claude/pw_ppt/icon_b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584" y="2327148"/>
            <a:ext cx="557784" cy="5577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02936" y="31546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Detection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248656" y="365760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weak patterns and dictionary words.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7059168" y="283464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7333488" y="196596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132C46"/>
          </a:solidFill>
          <a:ln/>
        </p:spPr>
      </p:sp>
      <p:sp>
        <p:nvSpPr>
          <p:cNvPr id="23" name="Shape 18"/>
          <p:cNvSpPr/>
          <p:nvPr/>
        </p:nvSpPr>
        <p:spPr>
          <a:xfrm>
            <a:off x="7950708" y="2240280"/>
            <a:ext cx="731520" cy="731520"/>
          </a:xfrm>
          <a:prstGeom prst="ellipse">
            <a:avLst/>
          </a:prstGeom>
          <a:solidFill>
            <a:srgbClr val="0E8A96"/>
          </a:solidFill>
          <a:ln/>
        </p:spPr>
      </p:sp>
      <p:pic>
        <p:nvPicPr>
          <p:cNvPr id="24" name="Image 3" descr="/home/claude/pw_ppt/icon_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7576" y="2327148"/>
            <a:ext cx="557784" cy="5577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24928" y="31546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Estimation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470648" y="365760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resistance against password cracking attacks.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9281160" y="283464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9555480" y="196596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132C46"/>
          </a:solidFill>
          <a:ln/>
        </p:spPr>
      </p:sp>
      <p:sp>
        <p:nvSpPr>
          <p:cNvPr id="29" name="Shape 23"/>
          <p:cNvSpPr/>
          <p:nvPr/>
        </p:nvSpPr>
        <p:spPr>
          <a:xfrm>
            <a:off x="10172700" y="2240280"/>
            <a:ext cx="731520" cy="7315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30" name="Image 4" descr="/home/claude/pw_ppt/icon_fi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9568" y="2327148"/>
            <a:ext cx="557784" cy="55778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46920" y="31546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Report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9692640" y="365760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detailed password security report.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1463040" cy="0"/>
          </a:xfrm>
          <a:prstGeom prst="line">
            <a:avLst/>
          </a:prstGeom>
          <a:noFill/>
          <a:ln w="38100">
            <a:solidFill>
              <a:srgbClr val="17B6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3796" y="196596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17B6C4"/>
            </a:solidFill>
            <a:prstDash val="solid"/>
          </a:ln>
          <a:effectLst>
            <a:outerShdw blurRad="76200" dist="254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48156" y="2194560"/>
            <a:ext cx="731520" cy="731520"/>
          </a:xfrm>
          <a:prstGeom prst="ellipse">
            <a:avLst/>
          </a:prstGeom>
          <a:solidFill>
            <a:srgbClr val="0E8A96"/>
          </a:solidFill>
          <a:ln/>
        </p:spPr>
      </p:sp>
      <p:pic>
        <p:nvPicPr>
          <p:cNvPr id="6" name="Image 0" descr="/home/claude/pw_ppt/icon_user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938" y="2282342"/>
            <a:ext cx="555955" cy="5559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3524" y="3063240"/>
            <a:ext cx="17007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a password through the application.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53796" y="16184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E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528316" y="283464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894076" y="196596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17B6C4"/>
            </a:solidFill>
            <a:prstDash val="solid"/>
          </a:ln>
          <a:effectLst>
            <a:outerShdw blurRad="76200" dist="254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88436" y="2194560"/>
            <a:ext cx="731520" cy="731520"/>
          </a:xfrm>
          <a:prstGeom prst="ellipse">
            <a:avLst/>
          </a:prstGeom>
          <a:solidFill>
            <a:srgbClr val="0E8A96"/>
          </a:solidFill>
          <a:ln/>
        </p:spPr>
      </p:sp>
      <p:pic>
        <p:nvPicPr>
          <p:cNvPr id="12" name="Image 1" descr="/home/claude/pw_ppt/icon_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6218" y="2282342"/>
            <a:ext cx="555955" cy="55595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03804" y="3063240"/>
            <a:ext cx="17007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is processed by the analysis engine.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894076" y="16184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E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768596" y="283464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5134356" y="196596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17B6C4"/>
            </a:solidFill>
            <a:prstDash val="solid"/>
          </a:ln>
          <a:effectLst>
            <a:outerShdw blurRad="76200" dist="254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28716" y="2194560"/>
            <a:ext cx="731520" cy="7315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8" name="Image 2" descr="/home/claude/pw_ppt/icon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6498" y="2282342"/>
            <a:ext cx="555955" cy="55595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44084" y="3063240"/>
            <a:ext cx="17007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parameters are evaluated.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134356" y="16184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E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7008876" y="283464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7374636" y="196596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17B6C4"/>
            </a:solidFill>
            <a:prstDash val="solid"/>
          </a:ln>
          <a:effectLst>
            <a:outerShdw blurRad="76200" dist="254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968996" y="2194560"/>
            <a:ext cx="731520" cy="731520"/>
          </a:xfrm>
          <a:prstGeom prst="ellipse">
            <a:avLst/>
          </a:prstGeom>
          <a:solidFill>
            <a:srgbClr val="0E8A96"/>
          </a:solidFill>
          <a:ln/>
        </p:spPr>
      </p:sp>
      <p:pic>
        <p:nvPicPr>
          <p:cNvPr id="24" name="Image 3" descr="/home/claude/pw_ppt/icon_bulls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6778" y="2282342"/>
            <a:ext cx="555955" cy="55595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84364" y="3063240"/>
            <a:ext cx="17007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strength score and crack time are calculated.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374636" y="16184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E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9249156" y="283464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9614916" y="196596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17B6C4"/>
            </a:solidFill>
            <a:prstDash val="solid"/>
          </a:ln>
          <a:effectLst>
            <a:outerShdw blurRad="76200" dist="254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209276" y="2194560"/>
            <a:ext cx="731520" cy="731520"/>
          </a:xfrm>
          <a:prstGeom prst="ellipse">
            <a:avLst/>
          </a:prstGeom>
          <a:solidFill>
            <a:srgbClr val="0E8A96"/>
          </a:solidFill>
          <a:ln/>
        </p:spPr>
      </p:sp>
      <p:pic>
        <p:nvPicPr>
          <p:cNvPr id="30" name="Image 4" descr="/home/claude/pw_ppt/icon_fi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97058" y="2282342"/>
            <a:ext cx="555955" cy="55595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724644" y="3063240"/>
            <a:ext cx="17007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recommendations are displayed to the user.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9614916" y="16184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E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32C46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" y="1280160"/>
            <a:ext cx="1554480" cy="1554480"/>
          </a:xfrm>
          <a:prstGeom prst="ellipse">
            <a:avLst/>
          </a:prstGeom>
          <a:solidFill>
            <a:srgbClr val="0E8A96"/>
          </a:solidFill>
          <a:ln/>
        </p:spPr>
      </p:sp>
      <p:pic>
        <p:nvPicPr>
          <p:cNvPr id="4" name="Image 0" descr="/home/claude/pw_ppt/icon_user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098" y="1466698"/>
            <a:ext cx="1181405" cy="11814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063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17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342900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Authentication &amp; Password Input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6035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05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160520" y="1216152"/>
            <a:ext cx="384048" cy="384048"/>
          </a:xfrm>
          <a:prstGeom prst="ellipse">
            <a:avLst/>
          </a:prstGeom>
          <a:solidFill>
            <a:srgbClr val="0E8A96"/>
          </a:solidFill>
          <a:ln/>
        </p:spPr>
      </p:sp>
      <p:sp>
        <p:nvSpPr>
          <p:cNvPr id="9" name="Text 6"/>
          <p:cNvSpPr/>
          <p:nvPr/>
        </p:nvSpPr>
        <p:spPr>
          <a:xfrm>
            <a:off x="4160520" y="1216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754880" y="105156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user registration and login.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754880" y="1938528"/>
            <a:ext cx="6720840" cy="0"/>
          </a:xfrm>
          <a:prstGeom prst="line">
            <a:avLst/>
          </a:prstGeom>
          <a:noFill/>
          <a:ln w="9525">
            <a:solidFill>
              <a:srgbClr val="24435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60520" y="2176272"/>
            <a:ext cx="384048" cy="384048"/>
          </a:xfrm>
          <a:prstGeom prst="ellipse">
            <a:avLst/>
          </a:prstGeom>
          <a:solidFill>
            <a:srgbClr val="0E8A96"/>
          </a:solidFill>
          <a:ln/>
        </p:spPr>
      </p:sp>
      <p:sp>
        <p:nvSpPr>
          <p:cNvPr id="13" name="Text 10"/>
          <p:cNvSpPr/>
          <p:nvPr/>
        </p:nvSpPr>
        <p:spPr>
          <a:xfrm>
            <a:off x="4160520" y="2176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754880" y="201168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input interface.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754880" y="2898648"/>
            <a:ext cx="6720840" cy="0"/>
          </a:xfrm>
          <a:prstGeom prst="line">
            <a:avLst/>
          </a:prstGeom>
          <a:noFill/>
          <a:ln w="9525">
            <a:solidFill>
              <a:srgbClr val="2443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60520" y="3136392"/>
            <a:ext cx="384048" cy="384048"/>
          </a:xfrm>
          <a:prstGeom prst="ellipse">
            <a:avLst/>
          </a:prstGeom>
          <a:solidFill>
            <a:srgbClr val="0E8A96"/>
          </a:solidFill>
          <a:ln/>
        </p:spPr>
      </p:sp>
      <p:sp>
        <p:nvSpPr>
          <p:cNvPr id="17" name="Text 14"/>
          <p:cNvSpPr/>
          <p:nvPr/>
        </p:nvSpPr>
        <p:spPr>
          <a:xfrm>
            <a:off x="4160520" y="3136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754880" y="297180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and sanitization.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754880" y="3858768"/>
            <a:ext cx="6720840" cy="0"/>
          </a:xfrm>
          <a:prstGeom prst="line">
            <a:avLst/>
          </a:prstGeom>
          <a:noFill/>
          <a:ln w="9525">
            <a:solidFill>
              <a:srgbClr val="2443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60520" y="4096512"/>
            <a:ext cx="384048" cy="384048"/>
          </a:xfrm>
          <a:prstGeom prst="ellipse">
            <a:avLst/>
          </a:prstGeom>
          <a:solidFill>
            <a:srgbClr val="0E8A96"/>
          </a:solidFill>
          <a:ln/>
        </p:spPr>
      </p:sp>
      <p:sp>
        <p:nvSpPr>
          <p:cNvPr id="21" name="Text 18"/>
          <p:cNvSpPr/>
          <p:nvPr/>
        </p:nvSpPr>
        <p:spPr>
          <a:xfrm>
            <a:off x="4160520" y="4096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754880" y="393192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password handling.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754880" y="4818888"/>
            <a:ext cx="6720840" cy="0"/>
          </a:xfrm>
          <a:prstGeom prst="line">
            <a:avLst/>
          </a:prstGeom>
          <a:noFill/>
          <a:ln w="9525">
            <a:solidFill>
              <a:srgbClr val="24435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60520" y="5056632"/>
            <a:ext cx="384048" cy="384048"/>
          </a:xfrm>
          <a:prstGeom prst="ellipse">
            <a:avLst/>
          </a:prstGeom>
          <a:solidFill>
            <a:srgbClr val="0E8A96"/>
          </a:solidFill>
          <a:ln/>
        </p:spPr>
      </p:sp>
      <p:sp>
        <p:nvSpPr>
          <p:cNvPr id="25" name="Text 22"/>
          <p:cNvSpPr/>
          <p:nvPr/>
        </p:nvSpPr>
        <p:spPr>
          <a:xfrm>
            <a:off x="4160520" y="5056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754880" y="489204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 management.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32C46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" y="1280160"/>
            <a:ext cx="1554480" cy="1554480"/>
          </a:xfrm>
          <a:prstGeom prst="ellipse">
            <a:avLst/>
          </a:prstGeom>
          <a:solidFill>
            <a:srgbClr val="0E8A96"/>
          </a:solidFill>
          <a:ln/>
        </p:spPr>
      </p:sp>
      <p:pic>
        <p:nvPicPr>
          <p:cNvPr id="4" name="Image 0" descr="/home/claude/pw_ppt/icon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098" y="1466698"/>
            <a:ext cx="1181405" cy="11814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063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17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342900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Strength Analysis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6035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160520" y="1216152"/>
            <a:ext cx="384048" cy="384048"/>
          </a:xfrm>
          <a:prstGeom prst="ellipse">
            <a:avLst/>
          </a:prstGeom>
          <a:solidFill>
            <a:srgbClr val="0E8A96"/>
          </a:solidFill>
          <a:ln/>
        </p:spPr>
      </p:sp>
      <p:sp>
        <p:nvSpPr>
          <p:cNvPr id="9" name="Text 6"/>
          <p:cNvSpPr/>
          <p:nvPr/>
        </p:nvSpPr>
        <p:spPr>
          <a:xfrm>
            <a:off x="4160520" y="1216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754880" y="105156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password length.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754880" y="1938528"/>
            <a:ext cx="6720840" cy="0"/>
          </a:xfrm>
          <a:prstGeom prst="line">
            <a:avLst/>
          </a:prstGeom>
          <a:noFill/>
          <a:ln w="9525">
            <a:solidFill>
              <a:srgbClr val="24435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60520" y="2176272"/>
            <a:ext cx="384048" cy="384048"/>
          </a:xfrm>
          <a:prstGeom prst="ellipse">
            <a:avLst/>
          </a:prstGeom>
          <a:solidFill>
            <a:srgbClr val="0E8A96"/>
          </a:solidFill>
          <a:ln/>
        </p:spPr>
      </p:sp>
      <p:sp>
        <p:nvSpPr>
          <p:cNvPr id="13" name="Text 10"/>
          <p:cNvSpPr/>
          <p:nvPr/>
        </p:nvSpPr>
        <p:spPr>
          <a:xfrm>
            <a:off x="4160520" y="2176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754880" y="201168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uppercase, lowercase, numbers, and special characters.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754880" y="2898648"/>
            <a:ext cx="6720840" cy="0"/>
          </a:xfrm>
          <a:prstGeom prst="line">
            <a:avLst/>
          </a:prstGeom>
          <a:noFill/>
          <a:ln w="9525">
            <a:solidFill>
              <a:srgbClr val="2443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60520" y="3136392"/>
            <a:ext cx="384048" cy="384048"/>
          </a:xfrm>
          <a:prstGeom prst="ellipse">
            <a:avLst/>
          </a:prstGeom>
          <a:solidFill>
            <a:srgbClr val="0E8A96"/>
          </a:solidFill>
          <a:ln/>
        </p:spPr>
      </p:sp>
      <p:sp>
        <p:nvSpPr>
          <p:cNvPr id="17" name="Text 14"/>
          <p:cNvSpPr/>
          <p:nvPr/>
        </p:nvSpPr>
        <p:spPr>
          <a:xfrm>
            <a:off x="4160520" y="3136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754880" y="297180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password entropy.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754880" y="3858768"/>
            <a:ext cx="6720840" cy="0"/>
          </a:xfrm>
          <a:prstGeom prst="line">
            <a:avLst/>
          </a:prstGeom>
          <a:noFill/>
          <a:ln w="9525">
            <a:solidFill>
              <a:srgbClr val="2443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60520" y="4096512"/>
            <a:ext cx="384048" cy="384048"/>
          </a:xfrm>
          <a:prstGeom prst="ellipse">
            <a:avLst/>
          </a:prstGeom>
          <a:solidFill>
            <a:srgbClr val="0E8A96"/>
          </a:solidFill>
          <a:ln/>
        </p:spPr>
      </p:sp>
      <p:sp>
        <p:nvSpPr>
          <p:cNvPr id="21" name="Text 18"/>
          <p:cNvSpPr/>
          <p:nvPr/>
        </p:nvSpPr>
        <p:spPr>
          <a:xfrm>
            <a:off x="4160520" y="4096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754880" y="393192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password strength score.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754880" y="4818888"/>
            <a:ext cx="6720840" cy="0"/>
          </a:xfrm>
          <a:prstGeom prst="line">
            <a:avLst/>
          </a:prstGeom>
          <a:noFill/>
          <a:ln w="9525">
            <a:solidFill>
              <a:srgbClr val="24435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60520" y="5056632"/>
            <a:ext cx="384048" cy="384048"/>
          </a:xfrm>
          <a:prstGeom prst="ellipse">
            <a:avLst/>
          </a:prstGeom>
          <a:solidFill>
            <a:srgbClr val="0E8A96"/>
          </a:solidFill>
          <a:ln/>
        </p:spPr>
      </p:sp>
      <p:sp>
        <p:nvSpPr>
          <p:cNvPr id="25" name="Text 22"/>
          <p:cNvSpPr/>
          <p:nvPr/>
        </p:nvSpPr>
        <p:spPr>
          <a:xfrm>
            <a:off x="4160520" y="5056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754880" y="489204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passwords as Weak, Fair, Strong, or Very Strong.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32C46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" y="1280160"/>
            <a:ext cx="1554480" cy="1554480"/>
          </a:xfrm>
          <a:prstGeom prst="ellipse">
            <a:avLst/>
          </a:prstGeom>
          <a:solidFill>
            <a:srgbClr val="0E8A96"/>
          </a:solidFill>
          <a:ln/>
        </p:spPr>
      </p:sp>
      <p:pic>
        <p:nvPicPr>
          <p:cNvPr id="4" name="Image 0" descr="/home/claude/pw_ppt/icon_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098" y="1466698"/>
            <a:ext cx="1181405" cy="11814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063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17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342900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Vulnerability Assessment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6035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160520" y="1216152"/>
            <a:ext cx="384048" cy="384048"/>
          </a:xfrm>
          <a:prstGeom prst="ellipse">
            <a:avLst/>
          </a:prstGeom>
          <a:solidFill>
            <a:srgbClr val="0E8A96"/>
          </a:solidFill>
          <a:ln/>
        </p:spPr>
      </p:sp>
      <p:sp>
        <p:nvSpPr>
          <p:cNvPr id="9" name="Text 6"/>
          <p:cNvSpPr/>
          <p:nvPr/>
        </p:nvSpPr>
        <p:spPr>
          <a:xfrm>
            <a:off x="4160520" y="1216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754880" y="105156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dictionary words.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754880" y="1938528"/>
            <a:ext cx="6720840" cy="0"/>
          </a:xfrm>
          <a:prstGeom prst="line">
            <a:avLst/>
          </a:prstGeom>
          <a:noFill/>
          <a:ln w="9525">
            <a:solidFill>
              <a:srgbClr val="24435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60520" y="2176272"/>
            <a:ext cx="384048" cy="384048"/>
          </a:xfrm>
          <a:prstGeom prst="ellipse">
            <a:avLst/>
          </a:prstGeom>
          <a:solidFill>
            <a:srgbClr val="0E8A96"/>
          </a:solidFill>
          <a:ln/>
        </p:spPr>
      </p:sp>
      <p:sp>
        <p:nvSpPr>
          <p:cNvPr id="13" name="Text 10"/>
          <p:cNvSpPr/>
          <p:nvPr/>
        </p:nvSpPr>
        <p:spPr>
          <a:xfrm>
            <a:off x="4160520" y="2176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754880" y="201168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repeated characters.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754880" y="2898648"/>
            <a:ext cx="6720840" cy="0"/>
          </a:xfrm>
          <a:prstGeom prst="line">
            <a:avLst/>
          </a:prstGeom>
          <a:noFill/>
          <a:ln w="9525">
            <a:solidFill>
              <a:srgbClr val="2443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60520" y="3136392"/>
            <a:ext cx="384048" cy="384048"/>
          </a:xfrm>
          <a:prstGeom prst="ellipse">
            <a:avLst/>
          </a:prstGeom>
          <a:solidFill>
            <a:srgbClr val="0E8A96"/>
          </a:solidFill>
          <a:ln/>
        </p:spPr>
      </p:sp>
      <p:sp>
        <p:nvSpPr>
          <p:cNvPr id="17" name="Text 14"/>
          <p:cNvSpPr/>
          <p:nvPr/>
        </p:nvSpPr>
        <p:spPr>
          <a:xfrm>
            <a:off x="4160520" y="3136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754880" y="297180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sequential patterns (12345, abcde).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754880" y="3858768"/>
            <a:ext cx="6720840" cy="0"/>
          </a:xfrm>
          <a:prstGeom prst="line">
            <a:avLst/>
          </a:prstGeom>
          <a:noFill/>
          <a:ln w="9525">
            <a:solidFill>
              <a:srgbClr val="2443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60520" y="4096512"/>
            <a:ext cx="384048" cy="384048"/>
          </a:xfrm>
          <a:prstGeom prst="ellipse">
            <a:avLst/>
          </a:prstGeom>
          <a:solidFill>
            <a:srgbClr val="0E8A96"/>
          </a:solidFill>
          <a:ln/>
        </p:spPr>
      </p:sp>
      <p:sp>
        <p:nvSpPr>
          <p:cNvPr id="21" name="Text 18"/>
          <p:cNvSpPr/>
          <p:nvPr/>
        </p:nvSpPr>
        <p:spPr>
          <a:xfrm>
            <a:off x="4160520" y="4096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754880" y="393192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keyboard patterns (qwerty, asdf).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754880" y="4818888"/>
            <a:ext cx="6720840" cy="0"/>
          </a:xfrm>
          <a:prstGeom prst="line">
            <a:avLst/>
          </a:prstGeom>
          <a:noFill/>
          <a:ln w="9525">
            <a:solidFill>
              <a:srgbClr val="24435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60520" y="5056632"/>
            <a:ext cx="384048" cy="384048"/>
          </a:xfrm>
          <a:prstGeom prst="ellipse">
            <a:avLst/>
          </a:prstGeom>
          <a:solidFill>
            <a:srgbClr val="0E8A96"/>
          </a:solidFill>
          <a:ln/>
        </p:spPr>
      </p:sp>
      <p:sp>
        <p:nvSpPr>
          <p:cNvPr id="25" name="Text 22"/>
          <p:cNvSpPr/>
          <p:nvPr/>
        </p:nvSpPr>
        <p:spPr>
          <a:xfrm>
            <a:off x="4160520" y="5056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754880" y="489204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password crack time.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32C46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" y="1280160"/>
            <a:ext cx="1554480" cy="1554480"/>
          </a:xfrm>
          <a:prstGeom prst="ellipse">
            <a:avLst/>
          </a:prstGeom>
          <a:solidFill>
            <a:srgbClr val="0E8A96"/>
          </a:solidFill>
          <a:ln/>
        </p:spPr>
      </p:sp>
      <p:pic>
        <p:nvPicPr>
          <p:cNvPr id="4" name="Image 0" descr="/home/claude/pw_ppt/icon_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098" y="1466698"/>
            <a:ext cx="1181405" cy="11814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063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17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342900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Recommendation &amp; Report Generation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6035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160520" y="1216152"/>
            <a:ext cx="384048" cy="384048"/>
          </a:xfrm>
          <a:prstGeom prst="ellipse">
            <a:avLst/>
          </a:prstGeom>
          <a:solidFill>
            <a:srgbClr val="0E8A96"/>
          </a:solidFill>
          <a:ln/>
        </p:spPr>
      </p:sp>
      <p:sp>
        <p:nvSpPr>
          <p:cNvPr id="9" name="Text 6"/>
          <p:cNvSpPr/>
          <p:nvPr/>
        </p:nvSpPr>
        <p:spPr>
          <a:xfrm>
            <a:off x="4160520" y="1216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754880" y="105156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personalized password improvement suggestions.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754880" y="1938528"/>
            <a:ext cx="6720840" cy="0"/>
          </a:xfrm>
          <a:prstGeom prst="line">
            <a:avLst/>
          </a:prstGeom>
          <a:noFill/>
          <a:ln w="9525">
            <a:solidFill>
              <a:srgbClr val="24435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60520" y="2176272"/>
            <a:ext cx="384048" cy="384048"/>
          </a:xfrm>
          <a:prstGeom prst="ellipse">
            <a:avLst/>
          </a:prstGeom>
          <a:solidFill>
            <a:srgbClr val="0E8A96"/>
          </a:solidFill>
          <a:ln/>
        </p:spPr>
      </p:sp>
      <p:sp>
        <p:nvSpPr>
          <p:cNvPr id="13" name="Text 10"/>
          <p:cNvSpPr/>
          <p:nvPr/>
        </p:nvSpPr>
        <p:spPr>
          <a:xfrm>
            <a:off x="4160520" y="2176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754880" y="201168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identified vulnerabilities.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754880" y="2898648"/>
            <a:ext cx="6720840" cy="0"/>
          </a:xfrm>
          <a:prstGeom prst="line">
            <a:avLst/>
          </a:prstGeom>
          <a:noFill/>
          <a:ln w="9525">
            <a:solidFill>
              <a:srgbClr val="2443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60520" y="3136392"/>
            <a:ext cx="384048" cy="384048"/>
          </a:xfrm>
          <a:prstGeom prst="ellipse">
            <a:avLst/>
          </a:prstGeom>
          <a:solidFill>
            <a:srgbClr val="0E8A96"/>
          </a:solidFill>
          <a:ln/>
        </p:spPr>
      </p:sp>
      <p:sp>
        <p:nvSpPr>
          <p:cNvPr id="17" name="Text 14"/>
          <p:cNvSpPr/>
          <p:nvPr/>
        </p:nvSpPr>
        <p:spPr>
          <a:xfrm>
            <a:off x="4160520" y="3136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754880" y="297180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password security reports.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754880" y="3858768"/>
            <a:ext cx="6720840" cy="0"/>
          </a:xfrm>
          <a:prstGeom prst="line">
            <a:avLst/>
          </a:prstGeom>
          <a:noFill/>
          <a:ln w="9525">
            <a:solidFill>
              <a:srgbClr val="2443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60520" y="4096512"/>
            <a:ext cx="384048" cy="384048"/>
          </a:xfrm>
          <a:prstGeom prst="ellipse">
            <a:avLst/>
          </a:prstGeom>
          <a:solidFill>
            <a:srgbClr val="0E8A96"/>
          </a:solidFill>
          <a:ln/>
        </p:spPr>
      </p:sp>
      <p:sp>
        <p:nvSpPr>
          <p:cNvPr id="21" name="Text 18"/>
          <p:cNvSpPr/>
          <p:nvPr/>
        </p:nvSpPr>
        <p:spPr>
          <a:xfrm>
            <a:off x="4160520" y="4096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754880" y="393192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reports in PDF or Excel format.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754880" y="4818888"/>
            <a:ext cx="6720840" cy="0"/>
          </a:xfrm>
          <a:prstGeom prst="line">
            <a:avLst/>
          </a:prstGeom>
          <a:noFill/>
          <a:ln w="9525">
            <a:solidFill>
              <a:srgbClr val="24435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60520" y="5056632"/>
            <a:ext cx="384048" cy="384048"/>
          </a:xfrm>
          <a:prstGeom prst="ellipse">
            <a:avLst/>
          </a:prstGeom>
          <a:solidFill>
            <a:srgbClr val="0E8A96"/>
          </a:solidFill>
          <a:ln/>
        </p:spPr>
      </p:sp>
      <p:sp>
        <p:nvSpPr>
          <p:cNvPr id="25" name="Text 22"/>
          <p:cNvSpPr/>
          <p:nvPr/>
        </p:nvSpPr>
        <p:spPr>
          <a:xfrm>
            <a:off x="4160520" y="5056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754880" y="489204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password assessment history.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32C46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" y="1280160"/>
            <a:ext cx="1554480" cy="1554480"/>
          </a:xfrm>
          <a:prstGeom prst="ellipse">
            <a:avLst/>
          </a:prstGeom>
          <a:solidFill>
            <a:srgbClr val="0E8A96"/>
          </a:solidFill>
          <a:ln/>
        </p:spPr>
      </p:sp>
      <p:pic>
        <p:nvPicPr>
          <p:cNvPr id="4" name="Image 0" descr="/home/claude/pw_ppt/icon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098" y="1466698"/>
            <a:ext cx="1181405" cy="11814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063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17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342900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History and Analytics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6035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05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160520" y="1216152"/>
            <a:ext cx="384048" cy="384048"/>
          </a:xfrm>
          <a:prstGeom prst="ellipse">
            <a:avLst/>
          </a:prstGeom>
          <a:solidFill>
            <a:srgbClr val="0E8A96"/>
          </a:solidFill>
          <a:ln/>
        </p:spPr>
      </p:sp>
      <p:sp>
        <p:nvSpPr>
          <p:cNvPr id="9" name="Text 6"/>
          <p:cNvSpPr/>
          <p:nvPr/>
        </p:nvSpPr>
        <p:spPr>
          <a:xfrm>
            <a:off x="4160520" y="1216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754880" y="105156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previous password analysis results.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754880" y="1938528"/>
            <a:ext cx="6720840" cy="0"/>
          </a:xfrm>
          <a:prstGeom prst="line">
            <a:avLst/>
          </a:prstGeom>
          <a:noFill/>
          <a:ln w="9525">
            <a:solidFill>
              <a:srgbClr val="24435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60520" y="2176272"/>
            <a:ext cx="384048" cy="384048"/>
          </a:xfrm>
          <a:prstGeom prst="ellipse">
            <a:avLst/>
          </a:prstGeom>
          <a:solidFill>
            <a:srgbClr val="0E8A96"/>
          </a:solidFill>
          <a:ln/>
        </p:spPr>
      </p:sp>
      <p:sp>
        <p:nvSpPr>
          <p:cNvPr id="13" name="Text 10"/>
          <p:cNvSpPr/>
          <p:nvPr/>
        </p:nvSpPr>
        <p:spPr>
          <a:xfrm>
            <a:off x="4160520" y="2176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754880" y="201168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password strength improvement.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754880" y="2898648"/>
            <a:ext cx="6720840" cy="0"/>
          </a:xfrm>
          <a:prstGeom prst="line">
            <a:avLst/>
          </a:prstGeom>
          <a:noFill/>
          <a:ln w="9525">
            <a:solidFill>
              <a:srgbClr val="2443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60520" y="3136392"/>
            <a:ext cx="384048" cy="384048"/>
          </a:xfrm>
          <a:prstGeom prst="ellipse">
            <a:avLst/>
          </a:prstGeom>
          <a:solidFill>
            <a:srgbClr val="0E8A96"/>
          </a:solidFill>
          <a:ln/>
        </p:spPr>
      </p:sp>
      <p:sp>
        <p:nvSpPr>
          <p:cNvPr id="17" name="Text 14"/>
          <p:cNvSpPr/>
          <p:nvPr/>
        </p:nvSpPr>
        <p:spPr>
          <a:xfrm>
            <a:off x="4160520" y="3136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754880" y="297180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historical security scores.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754880" y="3858768"/>
            <a:ext cx="6720840" cy="0"/>
          </a:xfrm>
          <a:prstGeom prst="line">
            <a:avLst/>
          </a:prstGeom>
          <a:noFill/>
          <a:ln w="9525">
            <a:solidFill>
              <a:srgbClr val="2443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60520" y="4096512"/>
            <a:ext cx="384048" cy="384048"/>
          </a:xfrm>
          <a:prstGeom prst="ellipse">
            <a:avLst/>
          </a:prstGeom>
          <a:solidFill>
            <a:srgbClr val="0E8A96"/>
          </a:solidFill>
          <a:ln/>
        </p:spPr>
      </p:sp>
      <p:sp>
        <p:nvSpPr>
          <p:cNvPr id="21" name="Text 18"/>
          <p:cNvSpPr/>
          <p:nvPr/>
        </p:nvSpPr>
        <p:spPr>
          <a:xfrm>
            <a:off x="4160520" y="4096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754880" y="393192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password security trends.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754880" y="4818888"/>
            <a:ext cx="6720840" cy="0"/>
          </a:xfrm>
          <a:prstGeom prst="line">
            <a:avLst/>
          </a:prstGeom>
          <a:noFill/>
          <a:ln w="9525">
            <a:solidFill>
              <a:srgbClr val="24435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60520" y="5056632"/>
            <a:ext cx="384048" cy="384048"/>
          </a:xfrm>
          <a:prstGeom prst="ellipse">
            <a:avLst/>
          </a:prstGeom>
          <a:solidFill>
            <a:srgbClr val="0E8A96"/>
          </a:solidFill>
          <a:ln/>
        </p:spPr>
      </p:sp>
      <p:sp>
        <p:nvSpPr>
          <p:cNvPr id="25" name="Text 22"/>
          <p:cNvSpPr/>
          <p:nvPr/>
        </p:nvSpPr>
        <p:spPr>
          <a:xfrm>
            <a:off x="4160520" y="5056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754880" y="489204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users monitor long-term password security.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1463040" cy="0"/>
          </a:xfrm>
          <a:prstGeom prst="line">
            <a:avLst/>
          </a:prstGeom>
          <a:noFill/>
          <a:ln w="38100">
            <a:solidFill>
              <a:srgbClr val="17B6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00200"/>
            <a:ext cx="336499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56816" y="1856232"/>
            <a:ext cx="731520" cy="731520"/>
          </a:xfrm>
          <a:prstGeom prst="ellipse">
            <a:avLst/>
          </a:prstGeom>
          <a:solidFill>
            <a:srgbClr val="0E8A96"/>
          </a:solidFill>
          <a:ln/>
        </p:spPr>
      </p:sp>
      <p:pic>
        <p:nvPicPr>
          <p:cNvPr id="6" name="Image 0" descr="/home/claude/pw_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4598" y="1944014"/>
            <a:ext cx="555955" cy="5559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88920"/>
            <a:ext cx="29992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password security awareness.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61104" y="1600200"/>
            <a:ext cx="336499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77840" y="1856232"/>
            <a:ext cx="731520" cy="731520"/>
          </a:xfrm>
          <a:prstGeom prst="ellipse">
            <a:avLst/>
          </a:prstGeom>
          <a:solidFill>
            <a:srgbClr val="0E8A96"/>
          </a:solidFill>
          <a:ln/>
        </p:spPr>
      </p:sp>
      <p:pic>
        <p:nvPicPr>
          <p:cNvPr id="10" name="Image 1" descr="/home/claude/pw_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622" y="1944014"/>
            <a:ext cx="555955" cy="55595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43984" y="2788920"/>
            <a:ext cx="29992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the risk of password cracking attacks.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882128" y="1600200"/>
            <a:ext cx="336499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98864" y="1856232"/>
            <a:ext cx="731520" cy="731520"/>
          </a:xfrm>
          <a:prstGeom prst="ellipse">
            <a:avLst/>
          </a:prstGeom>
          <a:solidFill>
            <a:srgbClr val="0E8A96"/>
          </a:solidFill>
          <a:ln/>
        </p:spPr>
      </p:sp>
      <p:pic>
        <p:nvPicPr>
          <p:cNvPr id="14" name="Image 2" descr="/home/claude/pw_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646" y="1944014"/>
            <a:ext cx="555955" cy="55595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65008" y="2788920"/>
            <a:ext cx="29992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instant security feedback.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2450592" y="4160520"/>
            <a:ext cx="336499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767328" y="4416552"/>
            <a:ext cx="731520" cy="731520"/>
          </a:xfrm>
          <a:prstGeom prst="ellipse">
            <a:avLst/>
          </a:prstGeom>
          <a:solidFill>
            <a:srgbClr val="0E8A96"/>
          </a:solidFill>
          <a:ln/>
        </p:spPr>
      </p:sp>
      <p:pic>
        <p:nvPicPr>
          <p:cNvPr id="18" name="Image 3" descr="/home/claude/pw_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5110" y="4504334"/>
            <a:ext cx="555955" cy="55595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633472" y="5349240"/>
            <a:ext cx="29992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stronger password creation.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071616" y="4160520"/>
            <a:ext cx="336499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388352" y="4416552"/>
            <a:ext cx="731520" cy="731520"/>
          </a:xfrm>
          <a:prstGeom prst="ellipse">
            <a:avLst/>
          </a:prstGeom>
          <a:solidFill>
            <a:srgbClr val="0E8A96"/>
          </a:solidFill>
          <a:ln/>
        </p:spPr>
      </p:sp>
      <p:pic>
        <p:nvPicPr>
          <p:cNvPr id="22" name="Image 4" descr="/home/claude/pw_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6134" y="4504334"/>
            <a:ext cx="555955" cy="55595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254496" y="5349240"/>
            <a:ext cx="29992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 overall account protection.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88720"/>
            <a:ext cx="1463040" cy="0"/>
          </a:xfrm>
          <a:prstGeom prst="line">
            <a:avLst/>
          </a:prstGeom>
          <a:noFill/>
          <a:ln w="38100">
            <a:solidFill>
              <a:srgbClr val="17B6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1828800"/>
            <a:ext cx="2048256" cy="3291840"/>
          </a:xfrm>
          <a:prstGeom prst="roundRect">
            <a:avLst>
              <a:gd name="adj" fmla="val 4464"/>
            </a:avLst>
          </a:prstGeom>
          <a:solidFill>
            <a:srgbClr val="132C46"/>
          </a:solidFill>
          <a:ln/>
        </p:spPr>
      </p:sp>
      <p:sp>
        <p:nvSpPr>
          <p:cNvPr id="5" name="Shape 3"/>
          <p:cNvSpPr/>
          <p:nvPr/>
        </p:nvSpPr>
        <p:spPr>
          <a:xfrm>
            <a:off x="1211580" y="2148840"/>
            <a:ext cx="768096" cy="768096"/>
          </a:xfrm>
          <a:prstGeom prst="ellipse">
            <a:avLst/>
          </a:prstGeom>
          <a:solidFill>
            <a:srgbClr val="0E8A96"/>
          </a:solidFill>
          <a:ln/>
        </p:spPr>
      </p:sp>
      <p:pic>
        <p:nvPicPr>
          <p:cNvPr id="6" name="Image 0" descr="/home/claude/pw_ppt/icon_ba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752" y="2241012"/>
            <a:ext cx="583753" cy="58375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8660" y="3154680"/>
            <a:ext cx="177393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banking systems.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820924" y="1828800"/>
            <a:ext cx="2048256" cy="3291840"/>
          </a:xfrm>
          <a:prstGeom prst="roundRect">
            <a:avLst>
              <a:gd name="adj" fmla="val 4464"/>
            </a:avLst>
          </a:prstGeom>
          <a:solidFill>
            <a:srgbClr val="132C46"/>
          </a:solidFill>
          <a:ln/>
        </p:spPr>
      </p:sp>
      <p:sp>
        <p:nvSpPr>
          <p:cNvPr id="9" name="Shape 6"/>
          <p:cNvSpPr/>
          <p:nvPr/>
        </p:nvSpPr>
        <p:spPr>
          <a:xfrm>
            <a:off x="3461004" y="2148840"/>
            <a:ext cx="768096" cy="768096"/>
          </a:xfrm>
          <a:prstGeom prst="ellipse">
            <a:avLst/>
          </a:prstGeom>
          <a:solidFill>
            <a:srgbClr val="0E8A96"/>
          </a:solidFill>
          <a:ln/>
        </p:spPr>
      </p:sp>
      <p:pic>
        <p:nvPicPr>
          <p:cNvPr id="10" name="Image 1" descr="/home/claude/pw_ppt/icon_buil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3176" y="2241012"/>
            <a:ext cx="583753" cy="58375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58084" y="3154680"/>
            <a:ext cx="177393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institution portals.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70348" y="1828800"/>
            <a:ext cx="2048256" cy="3291840"/>
          </a:xfrm>
          <a:prstGeom prst="roundRect">
            <a:avLst>
              <a:gd name="adj" fmla="val 4464"/>
            </a:avLst>
          </a:prstGeom>
          <a:solidFill>
            <a:srgbClr val="132C46"/>
          </a:solidFill>
          <a:ln/>
        </p:spPr>
      </p:sp>
      <p:sp>
        <p:nvSpPr>
          <p:cNvPr id="13" name="Shape 9"/>
          <p:cNvSpPr/>
          <p:nvPr/>
        </p:nvSpPr>
        <p:spPr>
          <a:xfrm>
            <a:off x="5710428" y="2148840"/>
            <a:ext cx="768096" cy="768096"/>
          </a:xfrm>
          <a:prstGeom prst="ellipse">
            <a:avLst/>
          </a:prstGeom>
          <a:solidFill>
            <a:srgbClr val="0E8A96"/>
          </a:solidFill>
          <a:ln/>
        </p:spPr>
      </p:sp>
      <p:pic>
        <p:nvPicPr>
          <p:cNvPr id="14" name="Image 2" descr="/home/claude/pw_ppt/icon_c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2600" y="2241012"/>
            <a:ext cx="583753" cy="58375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07508" y="3154680"/>
            <a:ext cx="177393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websites.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319772" y="1828800"/>
            <a:ext cx="2048256" cy="3291840"/>
          </a:xfrm>
          <a:prstGeom prst="roundRect">
            <a:avLst>
              <a:gd name="adj" fmla="val 4464"/>
            </a:avLst>
          </a:prstGeom>
          <a:solidFill>
            <a:srgbClr val="132C46"/>
          </a:solidFill>
          <a:ln/>
        </p:spPr>
      </p:sp>
      <p:sp>
        <p:nvSpPr>
          <p:cNvPr id="17" name="Shape 12"/>
          <p:cNvSpPr/>
          <p:nvPr/>
        </p:nvSpPr>
        <p:spPr>
          <a:xfrm>
            <a:off x="7959852" y="2148840"/>
            <a:ext cx="768096" cy="768096"/>
          </a:xfrm>
          <a:prstGeom prst="ellipse">
            <a:avLst/>
          </a:prstGeom>
          <a:solidFill>
            <a:srgbClr val="0E8A96"/>
          </a:solidFill>
          <a:ln/>
        </p:spPr>
      </p:sp>
      <p:pic>
        <p:nvPicPr>
          <p:cNvPr id="18" name="Image 3" descr="/home/claude/pw_ppt/icon_briefc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2024" y="2241012"/>
            <a:ext cx="583753" cy="58375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56932" y="3154680"/>
            <a:ext cx="177393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employee authentication systems.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9569196" y="1828800"/>
            <a:ext cx="2048256" cy="3291840"/>
          </a:xfrm>
          <a:prstGeom prst="roundRect">
            <a:avLst>
              <a:gd name="adj" fmla="val 4464"/>
            </a:avLst>
          </a:prstGeom>
          <a:solidFill>
            <a:srgbClr val="132C46"/>
          </a:solidFill>
          <a:ln/>
        </p:spPr>
      </p:sp>
      <p:sp>
        <p:nvSpPr>
          <p:cNvPr id="21" name="Shape 15"/>
          <p:cNvSpPr/>
          <p:nvPr/>
        </p:nvSpPr>
        <p:spPr>
          <a:xfrm>
            <a:off x="10209276" y="2148840"/>
            <a:ext cx="768096" cy="768096"/>
          </a:xfrm>
          <a:prstGeom prst="ellipse">
            <a:avLst/>
          </a:prstGeom>
          <a:solidFill>
            <a:srgbClr val="0E8A96"/>
          </a:solidFill>
          <a:ln/>
        </p:spPr>
      </p:sp>
      <p:pic>
        <p:nvPicPr>
          <p:cNvPr id="22" name="Image 4" descr="/home/claude/pw_ppt/icon_envelop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1448" y="2241012"/>
            <a:ext cx="583753" cy="58375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706356" y="3154680"/>
            <a:ext cx="177393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and email account security.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1463040" cy="0"/>
          </a:xfrm>
          <a:prstGeom prst="line">
            <a:avLst/>
          </a:prstGeom>
          <a:noFill/>
          <a:ln w="38100">
            <a:solidFill>
              <a:srgbClr val="F2A6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834640"/>
            <a:ext cx="10332720" cy="0"/>
          </a:xfrm>
          <a:prstGeom prst="line">
            <a:avLst/>
          </a:prstGeom>
          <a:noFill/>
          <a:ln w="25400">
            <a:solidFill>
              <a:srgbClr val="C7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423160"/>
            <a:ext cx="822960" cy="822960"/>
          </a:xfrm>
          <a:prstGeom prst="ellipse">
            <a:avLst/>
          </a:prstGeom>
          <a:solidFill>
            <a:srgbClr val="0E8A9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6" name="Image 0" descr="/home/claude/pw_ppt/icon_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146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-114300" y="2148839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Prediction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-114300" y="3063237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password strength prediction.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086100" y="2423160"/>
            <a:ext cx="822960" cy="822960"/>
          </a:xfrm>
          <a:prstGeom prst="ellipse">
            <a:avLst/>
          </a:prstGeom>
          <a:solidFill>
            <a:srgbClr val="F2A65A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0" name="Image 1" descr="/home/claude/pw_ppt/icon_m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0115" y="2514599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24885" y="2080259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Integration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2558595" y="3177541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multi-factor authentication (MFA).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669280" y="2423160"/>
            <a:ext cx="822960" cy="822960"/>
          </a:xfrm>
          <a:prstGeom prst="ellipse">
            <a:avLst/>
          </a:prstGeom>
          <a:solidFill>
            <a:srgbClr val="0E8A9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4" name="Image 2" descr="/home/claude/pw_ppt/icon_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251460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44440" y="2148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Checking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5004615" y="3063237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breach database checking.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252460" y="2423160"/>
            <a:ext cx="822960" cy="822960"/>
          </a:xfrm>
          <a:prstGeom prst="ellipse">
            <a:avLst/>
          </a:prstGeom>
          <a:solidFill>
            <a:srgbClr val="F2A65A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8" name="Image 3" descr="/home/claude/pw_ppt/icon_chro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3900" y="2514600"/>
            <a:ext cx="640080" cy="6400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600088" y="2080259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7612380" y="3177541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 support.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10835640" y="2423160"/>
            <a:ext cx="822960" cy="822960"/>
          </a:xfrm>
          <a:prstGeom prst="ellipse">
            <a:avLst/>
          </a:prstGeom>
          <a:solidFill>
            <a:srgbClr val="0E8A9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2" name="Image 4" descr="/home/claude/pw_ppt/icon_ey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7080" y="2514600"/>
            <a:ext cx="640080" cy="6400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088880" y="2080259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10180320" y="2984308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password monitoring.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5029200" cy="5029200"/>
          </a:xfrm>
          <a:prstGeom prst="ellipse">
            <a:avLst/>
          </a:prstGeom>
          <a:solidFill>
            <a:srgbClr val="132C46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1005840" cy="1005840"/>
          </a:xfrm>
          <a:prstGeom prst="ellipse">
            <a:avLst/>
          </a:prstGeom>
          <a:solidFill>
            <a:srgbClr val="0E8A96"/>
          </a:solidFill>
          <a:ln/>
        </p:spPr>
      </p:sp>
      <p:pic>
        <p:nvPicPr>
          <p:cNvPr id="4" name="Image 0" descr="/home/claude/pw_ppt/icon_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943661"/>
            <a:ext cx="764438" cy="7644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965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841248" y="2697480"/>
            <a:ext cx="1463040" cy="0"/>
          </a:xfrm>
          <a:prstGeom prst="line">
            <a:avLst/>
          </a:prstGeom>
          <a:noFill/>
          <a:ln w="38100">
            <a:solidFill>
              <a:srgbClr val="17B6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3063240"/>
            <a:ext cx="102412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ts val="2200"/>
              </a:lnSpc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security is essential for protecting digital identities.</a:t>
            </a:r>
            <a:endParaRPr lang="en-US" sz="1500" dirty="0"/>
          </a:p>
          <a:p>
            <a:pPr marL="254000" indent="-254000">
              <a:lnSpc>
                <a:spcPts val="2200"/>
              </a:lnSpc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analysis helps identify weak passwords.</a:t>
            </a:r>
            <a:endParaRPr lang="en-US" sz="1500" dirty="0"/>
          </a:p>
          <a:p>
            <a:pPr marL="254000" indent="-254000">
              <a:lnSpc>
                <a:spcPts val="2200"/>
              </a:lnSpc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assists users in creating stronger passwords.</a:t>
            </a:r>
            <a:endParaRPr lang="en-US" sz="1500" dirty="0"/>
          </a:p>
          <a:p>
            <a:pPr marL="254000" indent="-254000">
              <a:lnSpc>
                <a:spcPts val="2200"/>
              </a:lnSpc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recommendations reduce cyberattack risks.</a:t>
            </a:r>
            <a:endParaRPr lang="en-US" sz="1500" dirty="0"/>
          </a:p>
          <a:p>
            <a:pPr marL="254000" indent="-254000">
              <a:lnSpc>
                <a:spcPts val="2200"/>
              </a:lnSpc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contributes to safer authentication practices.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701</Words>
  <Application>Microsoft Office PowerPoint</Application>
  <PresentationFormat>Widescreen</PresentationFormat>
  <Paragraphs>196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amudhak41@gmail.com</cp:lastModifiedBy>
  <cp:revision>2</cp:revision>
  <dcterms:created xsi:type="dcterms:W3CDTF">2026-07-30T04:33:24Z</dcterms:created>
  <dcterms:modified xsi:type="dcterms:W3CDTF">2026-07-30T04:51:26Z</dcterms:modified>
</cp:coreProperties>
</file>